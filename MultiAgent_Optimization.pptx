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B6672"/>
                </a:solidFill>
                <a:latin typeface="Microsoft YaHei"/>
              </a:rPr>
              <a:t>MULTI-AGENT  ·  LONG-TERM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1F2A37"/>
                </a:solidFill>
                <a:latin typeface="Microsoft YaHei"/>
              </a:rPr>
              <a:t>多Agent智能分流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2D6CDF"/>
                </a:solidFill>
                <a:latin typeface="Microsoft YaHei"/>
              </a:rPr>
              <a:t>＋长程记忆优化系统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977639"/>
            <a:ext cx="2011680" cy="0"/>
          </a:xfrm>
          <a:prstGeom prst="bentConnector3">
            <a:avLst/>
          </a:prstGeom>
          <a:ln w="3175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1605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B6672"/>
                </a:solidFill>
                <a:latin typeface="Microsoft YaHei"/>
              </a:rPr>
              <a:t>智能路由 · 长程记忆 · 分布式协调 · 故障恢复 · 响应聚合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Microsoft YaHei"/>
              </a:rPr>
              <a:t>技术方案演示  |  Python · FAISS · PyTorch · Sentence-Transformers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92328"/>
            <a:ext cx="2286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0280" y="516128"/>
            <a:ext cx="5486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Microsoft YaHe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F2A37"/>
                </a:solidFill>
                <a:latin typeface="Microsoft YaHei"/>
              </a:rPr>
              <a:t>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672"/>
                </a:solidFill>
                <a:latin typeface="Microsoft YaHei"/>
              </a:rPr>
              <a:t>基于多Agent架构的智能分流系统，结合长程记忆优化，提升AI系统响应质量与效率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F2A37"/>
                </a:solidFill>
                <a:latin typeface="Microsoft YaHei"/>
              </a:rPr>
              <a:t>系统通过智能路由将用户查询分配给最适合的Agent处理，利用长程记忆存储与检索相关信息以提供更准确、个性化的回答；同时具备分布式协调与恢复管理能力，确保高可用性与容错性。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456432"/>
            <a:ext cx="4318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214884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A37"/>
                </a:solidFill>
                <a:latin typeface="Microsoft YaHei"/>
              </a:rPr>
              <a:t>智能分流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按查询类型路由到最合适的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320040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39312" y="3456432"/>
            <a:ext cx="4318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3657600"/>
            <a:ext cx="214884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A37"/>
                </a:solidFill>
                <a:latin typeface="Microsoft YaHei"/>
              </a:rPr>
              <a:t>长程记忆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16052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FAISS 向量检索 + 记忆优化压缩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20040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9944" y="3456432"/>
            <a:ext cx="4318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3657600"/>
            <a:ext cx="214884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A37"/>
                </a:solidFill>
                <a:latin typeface="Microsoft YaHei"/>
              </a:rPr>
              <a:t>分布式协调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16052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注册发现 · 负载均衡 · 资源锁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3200400"/>
            <a:ext cx="2606040" cy="21031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0576" y="3456432"/>
            <a:ext cx="4318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3657600"/>
            <a:ext cx="214884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2A37"/>
                </a:solidFill>
                <a:latin typeface="Microsoft YaHei"/>
              </a:rPr>
              <a:t>高可用恢复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416052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心跳监控 · 检查点 · 平滑降级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00800"/>
            <a:ext cx="10908792" cy="0"/>
          </a:xfrm>
          <a:prstGeom prst="bentConnector3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Microsoft YaHei"/>
              </a:rPr>
              <a:t>多Agent智能分流 + 长程记忆优化系统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2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92328"/>
            <a:ext cx="2286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0280" y="516128"/>
            <a:ext cx="5486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F2A37"/>
                </a:solidFill>
                <a:latin typeface="Microsoft YaHei"/>
              </a:rP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672"/>
                </a:solidFill>
                <a:latin typeface="Microsoft YaHei"/>
              </a:rPr>
              <a:t>查询自上而下流经路由、Agent群、记忆与聚合层，由分布式协调与恢复层横向支撑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011680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2011680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用户查询  User Query</a:t>
            </a:r>
          </a:p>
        </p:txBody>
      </p:sp>
      <p:sp>
        <p:nvSpPr>
          <p:cNvPr id="8" name="Down Arrow 7"/>
          <p:cNvSpPr/>
          <p:nvPr/>
        </p:nvSpPr>
        <p:spPr>
          <a:xfrm>
            <a:off x="4208780" y="2615184"/>
            <a:ext cx="177800" cy="201168"/>
          </a:xfrm>
          <a:prstGeom prst="down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0" y="2880360"/>
            <a:ext cx="3840480" cy="64008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880360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智能路由  Router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Microsoft YaHei"/>
              </a:rPr>
              <a:t>多维度决策 · 记忆增强路由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08780" y="3557016"/>
            <a:ext cx="177800" cy="201168"/>
          </a:xfrm>
          <a:prstGeom prst="down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77440" y="3822192"/>
            <a:ext cx="1188720" cy="603504"/>
          </a:xfrm>
          <a:prstGeom prst="roundRect">
            <a:avLst>
              <a:gd name="adj" fmla="val 8000"/>
            </a:avLst>
          </a:prstGeom>
          <a:solidFill>
            <a:srgbClr val="12B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3822192"/>
            <a:ext cx="11887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技术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3822192"/>
            <a:ext cx="1188720" cy="603504"/>
          </a:xfrm>
          <a:prstGeom prst="roundRect">
            <a:avLst>
              <a:gd name="adj" fmla="val 8000"/>
            </a:avLst>
          </a:prstGeom>
          <a:solidFill>
            <a:srgbClr val="12B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822192"/>
            <a:ext cx="11887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创意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822192"/>
            <a:ext cx="1188720" cy="603504"/>
          </a:xfrm>
          <a:prstGeom prst="roundRect">
            <a:avLst>
              <a:gd name="adj" fmla="val 8000"/>
            </a:avLst>
          </a:prstGeom>
          <a:solidFill>
            <a:srgbClr val="12B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822192"/>
            <a:ext cx="11887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记忆 Agent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208780" y="4462272"/>
            <a:ext cx="177800" cy="201168"/>
          </a:xfrm>
          <a:prstGeom prst="down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77440" y="4727448"/>
            <a:ext cx="3840480" cy="640080"/>
          </a:xfrm>
          <a:prstGeom prst="roundRect">
            <a:avLst>
              <a:gd name="adj" fmla="val 8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4727448"/>
            <a:ext cx="3840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响应聚合  Aggregator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Microsoft YaHei"/>
              </a:rPr>
              <a:t>加权合并 · 置信选择 · 冲突解决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208780" y="5404104"/>
            <a:ext cx="177800" cy="201168"/>
          </a:xfrm>
          <a:prstGeom prst="down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77440" y="5669280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5669280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最终响应  Final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011680"/>
            <a:ext cx="27432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5B6672"/>
                </a:solidFill>
                <a:latin typeface="Microsoft YaHei"/>
              </a:rPr>
              <a:t>支撑层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3317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0" y="2496312"/>
            <a:ext cx="50800" cy="58521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2478024"/>
            <a:ext cx="237744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Microsoft YaHei"/>
              </a:rPr>
              <a:t>长程记忆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2834640"/>
            <a:ext cx="237744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Microsoft YaHei"/>
              </a:rPr>
              <a:t>FAISS 向量库 · 记忆优化器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410712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0" y="3575304"/>
            <a:ext cx="50800" cy="58521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87968" y="3557016"/>
            <a:ext cx="237744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Microsoft YaHei"/>
              </a:rPr>
              <a:t>分布式协调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3913632"/>
            <a:ext cx="237744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Microsoft YaHei"/>
              </a:rPr>
              <a:t>注册 · 负载均衡 · 资源锁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4489704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0" y="4654296"/>
            <a:ext cx="50800" cy="585216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87968" y="4636008"/>
            <a:ext cx="237744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Microsoft YaHei"/>
              </a:rPr>
              <a:t>故障恢复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8" y="4992624"/>
            <a:ext cx="237744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Microsoft YaHei"/>
              </a:rPr>
              <a:t>心跳 · 检查点 · 降级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080" y="6400800"/>
            <a:ext cx="10908792" cy="0"/>
          </a:xfrm>
          <a:prstGeom prst="bentConnector3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Microsoft YaHei"/>
              </a:rPr>
              <a:t>多Agent智能分流 + 长程记忆优化系统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2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92328"/>
            <a:ext cx="2286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0280" y="516128"/>
            <a:ext cx="5486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Microsoft YaHei"/>
              </a:rPr>
              <a:t>CORE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F2A37"/>
                </a:solidFill>
                <a:latin typeface="Microsoft YaHei"/>
              </a:rPr>
              <a:t>多Agent智能分流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672"/>
                </a:solidFill>
                <a:latin typeface="Microsoft YaHei"/>
              </a:rPr>
              <a:t>把对的问题交给对的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3288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1460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多类型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5351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技术 / 创意 / 记忆 Agent，各司其职处理专属任务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53288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328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1460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智能路由判断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5351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Router 分析查询类型与意图，匹配最合适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31596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9768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多种路由策略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3659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直接路由 · 基于历史路由 · 记忆增强路由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233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431596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159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9768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动态负载均衡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73659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结合系统负载实时分配，资源利用最优化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00800"/>
            <a:ext cx="10908792" cy="0"/>
          </a:xfrm>
          <a:prstGeom prst="bentConnector3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Microsoft YaHei"/>
              </a:rPr>
              <a:t>多Agent智能分流 + 长程记忆优化系统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2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92328"/>
            <a:ext cx="2286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0280" y="516128"/>
            <a:ext cx="5486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Microsoft YaHei"/>
              </a:rPr>
              <a:t>CORE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F2A37"/>
                </a:solidFill>
                <a:latin typeface="Microsoft YaHei"/>
              </a:rPr>
              <a:t>长程记忆优化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672"/>
                </a:solidFill>
                <a:latin typeface="Microsoft YaHei"/>
              </a:rPr>
              <a:t>像人一样记住、压缩与遗忘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3288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1460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向量化存储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5351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FAISS 高效相似度检索，支持百万级记忆库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53288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328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1460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智能记忆压缩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5351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TF-IDF + 余弦相似度合并语义相近记忆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31596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9768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重要性评分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3659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结合时间衰减、访问频率，遗忘低优先级记忆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233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431596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159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9768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检索增强生成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73659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上下文感知检索 + 记忆融合，提升回答质量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00800"/>
            <a:ext cx="10908792" cy="0"/>
          </a:xfrm>
          <a:prstGeom prst="bentConnector3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Microsoft YaHei"/>
              </a:rPr>
              <a:t>多Agent智能分流 + 长程记忆优化系统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2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92328"/>
            <a:ext cx="2286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0280" y="516128"/>
            <a:ext cx="5486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Microsoft YaHei"/>
              </a:rPr>
              <a:t>CORE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F2A37"/>
                </a:solidFill>
                <a:latin typeface="Microsoft YaHei"/>
              </a:rPr>
              <a:t>分布式协调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672"/>
                </a:solidFill>
                <a:latin typeface="Microsoft YaHei"/>
              </a:rPr>
              <a:t>多Agent的高可用编排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3288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1460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注册与发现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5351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DistributedCoordinator 管理注册、注销与心跳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53288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328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1460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多负载均衡策略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5351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轮询 / 随机 / 最少连接 / 性能 / 任务类型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31596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9768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任务与消息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3659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任务分配、消息传递与资源锁机制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233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431596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159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9768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水平扩展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73659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集群部署线性扩展，10 节点可达 850 请求/秒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00800"/>
            <a:ext cx="10908792" cy="0"/>
          </a:xfrm>
          <a:prstGeom prst="bentConnector3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Microsoft YaHei"/>
              </a:rPr>
              <a:t>多Agent智能分流 + 长程记忆优化系统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2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92328"/>
            <a:ext cx="2286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0280" y="516128"/>
            <a:ext cx="5486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Microsoft YaHei"/>
              </a:rPr>
              <a:t>CORE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F2A37"/>
                </a:solidFill>
                <a:latin typeface="Microsoft YaHei"/>
              </a:rPr>
              <a:t>恢复管理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672"/>
                </a:solidFill>
                <a:latin typeface="Microsoft YaHei"/>
              </a:rPr>
              <a:t>故障来临时依旧稳健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3288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1460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心跳监控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5351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实时监控 Agent 状态，快速发现异常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53288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328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1460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检查点机制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5351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周期性保存状态，支持从检查点恢复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31596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9768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故障隔离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3659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防止单点故障扩散到整个系统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233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431596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159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9768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平滑降级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73659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部分故障时保持核心功能可用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00800"/>
            <a:ext cx="10908792" cy="0"/>
          </a:xfrm>
          <a:prstGeom prst="bentConnector3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Microsoft YaHei"/>
              </a:rPr>
              <a:t>多Agent智能分流 + 长程记忆优化系统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2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92328"/>
            <a:ext cx="2286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0280" y="516128"/>
            <a:ext cx="5486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Microsoft YaHei"/>
              </a:rPr>
              <a:t>CORE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F2A37"/>
                </a:solidFill>
                <a:latin typeface="Microsoft YaHei"/>
              </a:rPr>
              <a:t>响应聚合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672"/>
                </a:solidFill>
                <a:latin typeface="Microsoft YaHei"/>
              </a:rPr>
              <a:t>把多路回答融成一个最优解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53288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1460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多融合策略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5351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加权合并 · 置信度选择 · 简单合并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53288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3288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1460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冲突解决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5351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多数投票 / 置信加权 / 语义分析 / 源可靠性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31596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29768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事实 vs 观点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73659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区分冲突类型，采用不同解决方案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2336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4315968"/>
            <a:ext cx="502920" cy="50292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1596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97680"/>
            <a:ext cx="411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反馈闭环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736592"/>
            <a:ext cx="4114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收集用户反馈，持续优化聚合与可靠性评分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00800"/>
            <a:ext cx="10908792" cy="0"/>
          </a:xfrm>
          <a:prstGeom prst="bentConnector3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Microsoft YaHei"/>
              </a:rPr>
              <a:t>多Agent智能分流 + 长程记忆优化系统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2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92328"/>
            <a:ext cx="2286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0280" y="516128"/>
            <a:ext cx="5486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Microsoft YaHei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F2A37"/>
                </a:solidFill>
                <a:latin typeface="Microsoft YaHei"/>
              </a:rPr>
              <a:t>技术亮点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672"/>
                </a:solidFill>
                <a:latin typeface="Microsoft YaHei"/>
              </a:rPr>
              <a:t>融合分布式系统、NLP、向量检索与机器学习的工程实践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520440" cy="141732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2377440"/>
            <a:ext cx="355600" cy="50800"/>
          </a:xfrm>
          <a:prstGeom prst="rect">
            <a:avLst/>
          </a:prstGeom>
          <a:solidFill>
            <a:srgbClr val="12B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14600"/>
            <a:ext cx="301752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Microsoft YaHei"/>
              </a:rPr>
              <a:t>智能冲突解决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077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Microsoft YaHei"/>
              </a:rPr>
              <a:t>事实/观点冲突分类，语义相似度 + 矛盾检测，自适应选择解决策略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210312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5112" y="2103120"/>
            <a:ext cx="3520440" cy="141732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81144" y="2377440"/>
            <a:ext cx="355600" cy="50800"/>
          </a:xfrm>
          <a:prstGeom prst="rect">
            <a:avLst/>
          </a:prstGeom>
          <a:solidFill>
            <a:srgbClr val="12B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514600"/>
            <a:ext cx="301752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Microsoft YaHei"/>
              </a:rPr>
              <a:t>自适应路由优化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9077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Microsoft YaHei"/>
              </a:rPr>
              <a:t>在线学习实时调整，A/B 测试评估，冷启动特殊处理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10312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0144" y="2103120"/>
            <a:ext cx="3520440" cy="141732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6" y="2377440"/>
            <a:ext cx="355600" cy="50800"/>
          </a:xfrm>
          <a:prstGeom prst="rect">
            <a:avLst/>
          </a:prstGeom>
          <a:solidFill>
            <a:srgbClr val="12B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2514600"/>
            <a:ext cx="301752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Microsoft YaHei"/>
              </a:rPr>
              <a:t>分层记忆架构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90779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Microsoft YaHei"/>
              </a:rPr>
              <a:t>短/中/长期记忆分层，多维索引，时间衰减模型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85032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685032"/>
            <a:ext cx="3520440" cy="141732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" y="3959352"/>
            <a:ext cx="355600" cy="50800"/>
          </a:xfrm>
          <a:prstGeom prst="rect">
            <a:avLst/>
          </a:prstGeom>
          <a:solidFill>
            <a:srgbClr val="12B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096512"/>
            <a:ext cx="301752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Microsoft YaHei"/>
              </a:rPr>
              <a:t>高质量工程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48970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Microsoft YaHei"/>
              </a:rPr>
              <a:t>模块化设计 · 全面类型提示 · 单元/集成/性能测试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5112" y="3685032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25112" y="3685032"/>
            <a:ext cx="3520440" cy="141732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81144" y="3959352"/>
            <a:ext cx="355600" cy="50800"/>
          </a:xfrm>
          <a:prstGeom prst="rect">
            <a:avLst/>
          </a:prstGeom>
          <a:solidFill>
            <a:srgbClr val="12B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81144" y="4096512"/>
            <a:ext cx="301752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Microsoft YaHei"/>
              </a:rPr>
              <a:t>可配置可扩展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448970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Microsoft YaHei"/>
              </a:rPr>
              <a:t>配置驱动 · 插件架构 · 一致的 API 设计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3685032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10144" y="3685032"/>
            <a:ext cx="3520440" cy="141732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66176" y="3959352"/>
            <a:ext cx="355600" cy="50800"/>
          </a:xfrm>
          <a:prstGeom prst="rect">
            <a:avLst/>
          </a:prstGeom>
          <a:solidFill>
            <a:srgbClr val="12B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4096512"/>
            <a:ext cx="301752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F2A37"/>
                </a:solidFill>
                <a:latin typeface="Microsoft YaHei"/>
              </a:rPr>
              <a:t>性能优化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4489704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B6672"/>
                </a:solidFill>
                <a:latin typeface="Microsoft YaHei"/>
              </a:rPr>
              <a:t>异步处理 · 多级缓存 · 请求批处理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6400800"/>
            <a:ext cx="10908792" cy="0"/>
          </a:xfrm>
          <a:prstGeom prst="bentConnector3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Microsoft YaHei"/>
              </a:rPr>
              <a:t>多Agent智能分流 + 长程记忆优化系统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2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92328"/>
            <a:ext cx="2286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0280" y="516128"/>
            <a:ext cx="5486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Microsoft YaHei"/>
              </a:rPr>
              <a:t>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F2A37"/>
                </a:solidFill>
                <a:latin typeface="Microsoft YaHei"/>
              </a:rPr>
              <a:t>性能数据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672"/>
                </a:solidFill>
                <a:latin typeface="Microsoft YaHei"/>
              </a:rPr>
              <a:t>记忆增强路由准确率达 92.8%，综合优化后吞吐量翻倍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697480" cy="169164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04872"/>
            <a:ext cx="269748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D6CDF"/>
                </a:solidFill>
                <a:latin typeface="Microsoft YaHei"/>
              </a:rPr>
              <a:t>92.8%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69748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Microsoft YaHei"/>
              </a:rPr>
              <a:t>记忆增强路由准确率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0712"/>
            <a:ext cx="269748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Microsoft YaHei"/>
              </a:rPr>
              <a:t>vs 直接路由 78.5%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148840"/>
            <a:ext cx="2697480" cy="169164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2404872"/>
            <a:ext cx="269748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D6CDF"/>
                </a:solidFill>
                <a:latin typeface="Microsoft YaHei"/>
              </a:rPr>
              <a:t>+102%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3063240"/>
            <a:ext cx="269748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Microsoft YaHei"/>
              </a:rPr>
              <a:t>系统吞吐量提升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410712"/>
            <a:ext cx="269748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Microsoft YaHei"/>
              </a:rPr>
              <a:t>42 → 85 请求/秒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2148840"/>
            <a:ext cx="2697480" cy="169164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2404872"/>
            <a:ext cx="269748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D6CDF"/>
                </a:solidFill>
                <a:latin typeface="Microsoft YaHei"/>
              </a:rPr>
              <a:t>-51.8%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063240"/>
            <a:ext cx="269748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Microsoft YaHei"/>
              </a:rPr>
              <a:t>平均响应时间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410712"/>
            <a:ext cx="269748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Microsoft YaHei"/>
              </a:rPr>
              <a:t>385ms → 186ms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26296" y="2148840"/>
            <a:ext cx="2697480" cy="169164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2404872"/>
            <a:ext cx="269748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2D6CDF"/>
                </a:solidFill>
                <a:latin typeface="Microsoft YaHei"/>
              </a:rPr>
              <a:t>82.3%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063240"/>
            <a:ext cx="269748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Microsoft YaHei"/>
              </a:rPr>
              <a:t>记忆存储压缩率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3410712"/>
            <a:ext cx="269748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672"/>
                </a:solidFill>
                <a:latin typeface="Microsoft YaHei"/>
              </a:rPr>
              <a:t>相关性保持 87.5%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73152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Microsoft YaHei"/>
              </a:rPr>
              <a:t>优化前后对比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" y="4526280"/>
          <a:ext cx="109087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9464"/>
                <a:gridCol w="2569464"/>
                <a:gridCol w="2569464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</a:t>
                      </a:r>
                    </a:p>
                  </a:txBody>
                  <a:tcPr marL="137160" marT="36576" marB="36576" anchor="ctr"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优化前</a:t>
                      </a:r>
                    </a:p>
                  </a:txBody>
                  <a:tcPr marL="137160" marT="36576" marB="36576" anchor="ctr"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优化后</a:t>
                      </a:r>
                    </a:p>
                  </a:txBody>
                  <a:tcPr marL="137160" marT="36576" marB="36576" anchor="ctr">
                    <a:solidFill>
                      <a:srgbClr val="2D6C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提升</a:t>
                      </a:r>
                    </a:p>
                  </a:txBody>
                  <a:tcPr marL="137160" marT="36576" marB="36576" anchor="ctr">
                    <a:solidFill>
                      <a:srgbClr val="2D6CD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平均响应时间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385.2 ms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185.7 ms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2B78F"/>
                          </a:solidFill>
                          <a:latin typeface="Microsoft YaHei"/>
                        </a:rPr>
                        <a:t>51.8%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系统吞吐量</a:t>
                      </a:r>
                    </a:p>
                  </a:txBody>
                  <a:tcPr marL="137160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42 请求/秒</a:t>
                      </a:r>
                    </a:p>
                  </a:txBody>
                  <a:tcPr marL="137160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85 请求/秒</a:t>
                      </a:r>
                    </a:p>
                  </a:txBody>
                  <a:tcPr marL="137160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2B78F"/>
                          </a:solidFill>
                          <a:latin typeface="Microsoft YaHei"/>
                        </a:rPr>
                        <a:t>102.4%</a:t>
                      </a:r>
                    </a:p>
                  </a:txBody>
                  <a:tcPr marL="137160" marT="36576" marB="36576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内存使用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4.2 GB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2.8 GB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2B78F"/>
                          </a:solidFill>
                          <a:latin typeface="Microsoft YaHei"/>
                        </a:rPr>
                        <a:t>33.3%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路由准确率</a:t>
                      </a:r>
                    </a:p>
                  </a:txBody>
                  <a:tcPr marL="137160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75.3%</a:t>
                      </a:r>
                    </a:p>
                  </a:txBody>
                  <a:tcPr marL="137160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Microsoft YaHei"/>
                        </a:rPr>
                        <a:t>92.8%</a:t>
                      </a:r>
                    </a:p>
                  </a:txBody>
                  <a:tcPr marL="137160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2B78F"/>
                          </a:solidFill>
                          <a:latin typeface="Microsoft YaHei"/>
                        </a:rPr>
                        <a:t>23.2%</a:t>
                      </a:r>
                    </a:p>
                  </a:txBody>
                  <a:tcPr marL="137160" marT="36576" marB="3657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cxnSp>
        <p:nvCxnSpPr>
          <p:cNvPr id="24" name="Connector 23"/>
          <p:cNvCxnSpPr/>
          <p:nvPr/>
        </p:nvCxnSpPr>
        <p:spPr>
          <a:xfrm>
            <a:off x="640080" y="6400800"/>
            <a:ext cx="10908792" cy="0"/>
          </a:xfrm>
          <a:prstGeom prst="bentConnector3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Microsoft YaHei"/>
              </a:rPr>
              <a:t>多Agent智能分流 + 长程记忆优化系统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2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92328"/>
            <a:ext cx="228600" cy="508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0280" y="516128"/>
            <a:ext cx="5486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2D6CDF"/>
                </a:solidFill>
                <a:latin typeface="Microsoft YaHe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F2A37"/>
                </a:solidFill>
                <a:latin typeface="Microsoft YaHei"/>
              </a:rPr>
              <a:t>后续规划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672"/>
                </a:solidFill>
                <a:latin typeface="Microsoft YaHei"/>
              </a:rPr>
              <a:t>从更智能的路由到多模态与知识图谱集成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291840"/>
            <a:ext cx="10332720" cy="0"/>
          </a:xfrm>
          <a:prstGeom prst="bentConnector3">
            <a:avLst/>
          </a:prstGeom>
          <a:ln w="25400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091690" y="3177540"/>
            <a:ext cx="228600" cy="22860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7270" y="2377440"/>
            <a:ext cx="237744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D6CDF"/>
                </a:solidFill>
                <a:latin typeface="Microsoft YaHei"/>
              </a:rPr>
              <a:t>近期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611880"/>
            <a:ext cx="2468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更复杂的路由策略 · 记忆系统性能优化</a:t>
            </a:r>
          </a:p>
        </p:txBody>
      </p:sp>
      <p:sp>
        <p:nvSpPr>
          <p:cNvPr id="10" name="Oval 9"/>
          <p:cNvSpPr/>
          <p:nvPr/>
        </p:nvSpPr>
        <p:spPr>
          <a:xfrm>
            <a:off x="4674870" y="3177540"/>
            <a:ext cx="228600" cy="22860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450" y="2377440"/>
            <a:ext cx="237744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D6CDF"/>
                </a:solidFill>
                <a:latin typeface="Microsoft YaHei"/>
              </a:rPr>
              <a:t>中期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4730" y="3611880"/>
            <a:ext cx="2468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增强故障恢复智能化 · 完善分布式协调</a:t>
            </a:r>
          </a:p>
        </p:txBody>
      </p:sp>
      <p:sp>
        <p:nvSpPr>
          <p:cNvPr id="13" name="Oval 12"/>
          <p:cNvSpPr/>
          <p:nvPr/>
        </p:nvSpPr>
        <p:spPr>
          <a:xfrm>
            <a:off x="7258050" y="3177540"/>
            <a:ext cx="228600" cy="22860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3630" y="2377440"/>
            <a:ext cx="237744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D6CDF"/>
                </a:solidFill>
                <a:latin typeface="Microsoft YaHei"/>
              </a:rPr>
              <a:t>远期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7910" y="3611880"/>
            <a:ext cx="2468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多模态 Agent · 自主学习 · Agent 辩论协商</a:t>
            </a:r>
          </a:p>
        </p:txBody>
      </p:sp>
      <p:sp>
        <p:nvSpPr>
          <p:cNvPr id="16" name="Oval 15"/>
          <p:cNvSpPr/>
          <p:nvPr/>
        </p:nvSpPr>
        <p:spPr>
          <a:xfrm>
            <a:off x="9841230" y="3177540"/>
            <a:ext cx="228600" cy="22860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6810" y="2377440"/>
            <a:ext cx="237744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D6CDF"/>
                </a:solidFill>
                <a:latin typeface="Microsoft YaHei"/>
              </a:rPr>
              <a:t>愿景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1090" y="3611880"/>
            <a:ext cx="2468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知识图谱集成，构建领域知识增强推理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400800"/>
            <a:ext cx="10908792" cy="0"/>
          </a:xfrm>
          <a:prstGeom prst="bentConnector3">
            <a:avLst/>
          </a:prstGeom>
          <a:ln w="9525">
            <a:solidFill>
              <a:srgbClr val="E3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672"/>
                </a:solidFill>
                <a:latin typeface="Microsoft YaHei"/>
              </a:rPr>
              <a:t>多Agent智能分流 + 长程记忆优化系统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5B6672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F2A37"/>
                </a:solidFill>
                <a:latin typeface="Microsoft YaHei"/>
              </a:rPr>
              <a:t>一个高性能、高可靠的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2D6CDF"/>
                </a:solidFill>
                <a:latin typeface="Microsoft YaHei"/>
              </a:rPr>
              <a:t>多Agent智能系统框架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4114800"/>
            <a:ext cx="2011680" cy="0"/>
          </a:xfrm>
          <a:prstGeom prst="bentConnector3">
            <a:avLst/>
          </a:prstGeom>
          <a:ln w="3175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4297680"/>
            <a:ext cx="10058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B6672"/>
                </a:solidFill>
                <a:latin typeface="Microsoft YaHei"/>
              </a:rPr>
              <a:t>为复杂 AI 应用提供坚实的技术基础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058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672"/>
                </a:solidFill>
                <a:latin typeface="Microsoft YaHei"/>
              </a:rPr>
              <a:t>欢迎提交 Issue 与 Pull Request  ·  MIT License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058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Microsoft YaHei"/>
              </a:rPr>
              <a:t>联系作者「林修」微信：LinXiu230624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